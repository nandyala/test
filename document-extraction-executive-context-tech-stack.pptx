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38f82ab1e247b7" /><Relationship Type="http://schemas.openxmlformats.org/officeDocument/2006/relationships/extended-properties" Target="/docProps/app.xml" Id="R9582a94e61254a59" /><Relationship Type="http://schemas.openxmlformats.org/officeDocument/2006/relationships/officeDocument" Target="/ppt/presentation.xml" Id="R6de4f6358e0b46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57458dad024ccc"/>
  </p:sldMasterIdLst>
  <p:notesMasterIdLst>
    <p:notesMasterId xmlns:r="http://schemas.openxmlformats.org/officeDocument/2006/relationships" r:id="Rcf24621fb2ce4767"/>
  </p:notesMasterIdLst>
  <p:sldIdLst>
    <p:sldId xmlns:r="http://schemas.openxmlformats.org/officeDocument/2006/relationships" id="256" r:id="Rbe0edb518efb404f"/>
    <p:sldId xmlns:r="http://schemas.openxmlformats.org/officeDocument/2006/relationships" id="257" r:id="R87c93047038b4668"/>
    <p:sldId xmlns:r="http://schemas.openxmlformats.org/officeDocument/2006/relationships" id="258" r:id="Rb6ed1b2737884cb6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32d76cbd8c4983" /><Relationship Type="http://schemas.openxmlformats.org/officeDocument/2006/relationships/slideMaster" Target="/ppt/slideMasters/slideMaster1.xml" Id="R1057458dad024ccc" /><Relationship Type="http://schemas.openxmlformats.org/officeDocument/2006/relationships/notesMaster" Target="/ppt/notesMasters/notesMaster1.xml" Id="Rcf24621fb2ce4767" /><Relationship Type="http://schemas.openxmlformats.org/officeDocument/2006/relationships/presProps" Target="/ppt/presProps.xml" Id="R179788a01d774c2c" /><Relationship Type="http://schemas.openxmlformats.org/officeDocument/2006/relationships/tableStyles" Target="/ppt/tableStyles.xml" Id="Rc28d5aa5f8a1405f" /><Relationship Type="http://schemas.openxmlformats.org/officeDocument/2006/relationships/slide" Target="/ppt/slides/slide1.xml" Id="Rbe0edb518efb404f" /><Relationship Type="http://schemas.openxmlformats.org/officeDocument/2006/relationships/slide" Target="/ppt/slides/slide2.xml" Id="R87c93047038b4668" /><Relationship Type="http://schemas.openxmlformats.org/officeDocument/2006/relationships/slide" Target="/ppt/slides/slide3.xml" Id="Rb6ed1b2737884c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3591d88543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c320cac7514089" /><Relationship Type="http://schemas.openxmlformats.org/officeDocument/2006/relationships/notesMaster" Target="/ppt/notesMasters/notesMaster1.xml" Id="R7199f97bf4444c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a1fb219acc44b7" /><Relationship Type="http://schemas.openxmlformats.org/officeDocument/2006/relationships/notesMaster" Target="/ppt/notesMasters/notesMaster1.xml" Id="R59c38dd9a4154b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7cdcf89be743cf" /><Relationship Type="http://schemas.openxmlformats.org/officeDocument/2006/relationships/notesMaster" Target="/ppt/notesMasters/notesMaster1.xml" Id="R8d5cf0f35b3445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c5bdfe1ace40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0a1fb586874ac4" /><Relationship Type="http://schemas.openxmlformats.org/officeDocument/2006/relationships/slideLayout" Target="/ppt/slideLayouts/slideLayout1.xml" Id="R4562f77d7bad41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62f77d7bad41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d4634d30e4d64" /><Relationship Type="http://schemas.openxmlformats.org/officeDocument/2006/relationships/notesSlide" Target="/ppt/notesSlides/notesSlide1.xml" Id="R0ac8e39f6dfe43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8ecadd38f41b0" /><Relationship Type="http://schemas.openxmlformats.org/officeDocument/2006/relationships/notesSlide" Target="/ppt/notesSlides/notesSlide2.xml" Id="Rb5cf3ff78c844e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22457844644a6" /><Relationship Type="http://schemas.openxmlformats.org/officeDocument/2006/relationships/notesSlide" Target="/ppt/notesSlides/notesSlide3.xml" Id="R99a44da55b0041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E48BC9-9267-4F2C-B948-D136F06B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76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5AC8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3D5AC8"/>
                </a:solidFill>
                <a:latin typeface="Calibri"/>
                <a:ea typeface="Calibri"/>
                <a:cs typeface="Calibri"/>
              </a:rPr>
              <a:t>EXECUTIVE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1C793-9330-46C2-A8A7-1A669242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672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325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Document Extraction Service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2EC7F-D59E-422C-87C4-631B37FA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525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Business-facing view of how scanned documents become validated, canonical data for downstream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2105E-F156-4F8E-8682-67249ADF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038F3-317E-43AB-95C0-EE7021A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0F7D4-D046-4F6D-8933-CA3885C5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D65F5-D235-477D-8EB7-0672B3A6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43E96-F664-4F5E-AC60-B569B106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E4A9F-D378-4589-8F96-5DA251CB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3144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1430">
            <a:solidFill>
              <a:srgbClr val="B9CB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99BEE-7306-4888-ABE5-06A7BD95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Business Channels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0B581-4377-476C-8B3E-066F5376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8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88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Portal, batch intake,</a:t>
            </a:r>
          </a:p>
          <a:p xmlns:a="http://schemas.openxmlformats.org/drawingml/2006/main">
            <a:pPr algn="ctr">
              <a:defRPr sz="788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88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email scan, API upload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409A6-0122-4128-8901-152000A7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66900"/>
            <a:ext cx="13144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1430">
            <a:solidFill>
              <a:srgbClr val="B9CB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568F7-1546-45FB-9E9C-CDDE5F18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526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88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Downstream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F0FC5-5ED4-44F2-9CD6-2A89A00F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108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88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Disputes, insurance,</a:t>
            </a:r>
          </a:p>
          <a:p xmlns:a="http://schemas.openxmlformats.org/drawingml/2006/main">
            <a:pPr algn="ctr">
              <a:defRPr sz="788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88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claims, CRM, case mgmt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C2502-9D1A-4D2C-AEB5-5028B7D8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19250"/>
            <a:ext cx="32385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E"/>
          </a:solidFill>
          <a:ln xmlns:a="http://schemas.openxmlformats.org/drawingml/2006/main" w="11430">
            <a:solidFill>
              <a:srgbClr val="B9CB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0A0F1-7163-4AB2-BA7C-F528CB40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71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Spring Boot Extraction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0D5F1-3376-4C8C-9ABC-E009290E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09800"/>
            <a:ext cx="1181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1430">
            <a:solidFill>
              <a:srgbClr val="B9CB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CA6EE-746A-4417-B7B8-40822F29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955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Ingest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DDF4A-CAF0-49B3-A5F4-9FF76858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Upload, job ID,</a:t>
            </a:r>
          </a:p>
          <a:p xmlns:a="http://schemas.openxmlformats.org/drawingml/2006/main">
            <a:pPr algn="ctr">
              <a:defRPr sz="713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F610C-1F7E-42B6-AD3D-CAC5F2B8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09800"/>
            <a:ext cx="1181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1430">
            <a:solidFill>
              <a:srgbClr val="B9CB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0ED10-191F-4C77-B49B-8DDB2A02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9552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Orchestrate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CACC4-3B23-4360-A3BE-480A948E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98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Route, extract,</a:t>
            </a:r>
          </a:p>
          <a:p xmlns:a="http://schemas.openxmlformats.org/drawingml/2006/main">
            <a:pPr algn="ctr">
              <a:defRPr sz="713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validate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27FAEE-5215-4C2A-89CF-92003481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431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E3970B-3777-43A7-BEA7-10B8AE90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0375"/>
            <a:ext cx="18669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1430">
            <a:solidFill>
              <a:srgbClr val="B9CB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5F917-BD70-4796-B0E3-129292CD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86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Canonical 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AA914E-2239-4CE5-A8C2-18448B30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76600"/>
            <a:ext cx="16383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Stable schema by document type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060615-F47D-4618-BC89-6AE4D9C8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57625"/>
            <a:ext cx="16764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1430">
            <a:solidFill>
              <a:srgbClr val="B9CB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718E74-037E-4ECA-A97D-6EBE399B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43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Data Stores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AF29E7-8B16-4A33-8E01-05E43852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5767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Blob, database,</a:t>
            </a:r>
          </a:p>
          <a:p xmlns:a="http://schemas.openxmlformats.org/drawingml/2006/main">
            <a:pPr algn="ctr">
              <a:defRPr sz="67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audit trail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FCBDC4-DF76-4D60-A427-1332E2EF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57625"/>
            <a:ext cx="16764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1430">
            <a:solidFill>
              <a:srgbClr val="B9CB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B830C6-1468-4079-BC33-1B01916B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43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Model + Schema Registry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28A410-FBE4-4E93-9481-D7AC17F5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5767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66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Doc types, fields,</a:t>
            </a:r>
          </a:p>
          <a:p xmlns:a="http://schemas.openxmlformats.org/drawingml/2006/main">
            <a:pPr algn="ctr">
              <a:defRPr sz="66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66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thresholds, model IDs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BC195C-E88E-4BC3-8A37-0AFD5610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48075"/>
            <a:ext cx="1333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1430">
            <a:solidFill>
              <a:srgbClr val="B9CB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88969-7A2A-4C34-BD9F-95AABC06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338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Human 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459990-87C5-4179-9F43-FC869ED2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43350"/>
            <a:ext cx="11049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13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Low confidence cases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A0AEA5-641A-4526-8601-18D8BB51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238250"/>
            <a:ext cx="1619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A26014-DD58-43E2-9CC4-84ED33E3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3239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Azure AI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223893-93C3-4A9F-A063-F13F8D94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533525"/>
            <a:ext cx="1390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pPr>
            <a:r>
              <a:rPr sz="645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Document Intelligence</a:t>
            </a:r>
          </a:p>
          <a:p xmlns:a="http://schemas.openxmlformats.org/drawingml/2006/main">
            <a:pPr algn="ctr">
              <a:defRPr sz="645" b="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pPr>
            <a:r>
              <a:rPr sz="645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classifier + extractors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C67341-9413-4CFF-AA00-991EDD23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9070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41483C-E12C-4363-A60F-8F21AB97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765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39BBCF-A577-4802-8E1E-43DC23F3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62500"/>
            <a:ext cx="813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91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Runtime principle: classify first, route to the right extraction model, normalize into one business schema, and send exceptions to review.</a:t>
            </a:r>
          </a:p>
        </p:txBody>
      </p:sp>
    </p:spTree>
    <p:extLst>
      <p:ext uri="{BB962C8B-B14F-4D97-AF65-F5344CB8AC3E}">
        <p14:creationId xmlns:p14="http://schemas.microsoft.com/office/powerpoint/2010/main" val="747128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625382-608A-40A3-BE97-711A5383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76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5AC8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3D5AC8"/>
                </a:solidFill>
                <a:latin typeface="Calibri"/>
                <a:ea typeface="Calibri"/>
                <a:cs typeface="Calibri"/>
              </a:rPr>
              <a:t>ARCHITECTURE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C6616-7729-4F3A-9907-0F1BE468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672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325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Classify First, Then Extract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F10F4-08C4-4DD9-9FEC-8894D956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525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The POC proves the critical path without locking the implementation to one document layout.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D056D-D298-4AFF-81EB-AA1CB38A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09750"/>
            <a:ext cx="1200150" cy="14287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1430">
            <a:solidFill>
              <a:srgbClr val="B9CB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76AF6-4231-4433-9000-11FAFCBE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" y="18954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Ingest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1D5E9-F433-46C1-B9F1-9790D680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2286000"/>
            <a:ext cx="97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PDF/TIFF upload,</a:t>
            </a:r>
          </a:p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store raw file,</a:t>
            </a:r>
          </a:p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return job 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28CAC-9068-44B2-9091-DB6835EA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" y="1971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0">
            <a:solidFill>
              <a:srgbClr val="1E276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5C3A7-73FE-422E-BF4F-2A1F0721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" y="20097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1668D-1ABE-4002-BEAF-67FB88FD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" y="25241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C9885-2C5C-4C23-A830-BAA116D9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620" y="1809750"/>
            <a:ext cx="1200150" cy="14287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1430">
            <a:solidFill>
              <a:srgbClr val="B9CB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EFBA0-EC15-4CAE-ADAD-BBE05692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820" y="18954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Queue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F0737-3CB5-41F2-A74D-364A1813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920" y="2286000"/>
            <a:ext cx="97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Async message,</a:t>
            </a:r>
          </a:p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retry handling,</a:t>
            </a:r>
          </a:p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DLQ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B3DB5-29A1-4353-86CB-758DFDC8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445" y="1971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0">
            <a:solidFill>
              <a:srgbClr val="1E276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C4194-412F-4ED1-A890-AF3A227A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445" y="20097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7B7EC-CE41-474A-BD61-EBB62C91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5241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9AFA8-D43C-454E-AA08-182AAD7B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320" y="1809750"/>
            <a:ext cx="1200150" cy="14287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1430">
            <a:solidFill>
              <a:srgbClr val="B9CB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895F7-4946-4262-A6F5-D16FBCC1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520" y="18954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Classify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CFD91-6894-43A2-9ACD-83DDB83D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620" y="2286000"/>
            <a:ext cx="97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Doc type and</a:t>
            </a:r>
          </a:p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page range with</a:t>
            </a:r>
          </a:p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confidence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F87BE-1329-4162-840B-FFD8C8D0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145" y="1971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0">
            <a:solidFill>
              <a:srgbClr val="1E27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37C92-0625-473A-95F3-06ACAC40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145" y="20097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627D5-E25E-429A-9FC3-D34370B2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470" y="25241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F9418-8CB9-4AB0-9814-586C65E3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1809750"/>
            <a:ext cx="1200150" cy="14287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1430">
            <a:solidFill>
              <a:srgbClr val="B9CB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02203F-869E-4780-9646-E4D20384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220" y="18954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Extract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893AE-D340-4633-A0C4-46943E86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286000"/>
            <a:ext cx="97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Neural model per</a:t>
            </a:r>
          </a:p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doc type returns</a:t>
            </a:r>
          </a:p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field confidence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BD4455-E382-429D-871B-80D71B94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845" y="1971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0">
            <a:solidFill>
              <a:srgbClr val="1E276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870B5D-BA69-4E9D-BFEE-9461C1F7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845" y="20097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34F633-8CF1-4DB1-AF8E-D7FE000D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170" y="25241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5133F2-B3E8-4ECA-8978-5613EFA3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1809750"/>
            <a:ext cx="1200150" cy="14287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1430">
            <a:solidFill>
              <a:srgbClr val="B9CB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0D72AE-2DA3-4E76-836A-EE9B0EFA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954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3BAB80-5C7E-4AF8-9DB4-84D640AC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020" y="2286000"/>
            <a:ext cx="97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Required fields,</a:t>
            </a:r>
          </a:p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thresholds,</a:t>
            </a:r>
          </a:p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business rules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26301F-ED72-4386-B588-FAFFB5D6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545" y="1971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0">
            <a:solidFill>
              <a:srgbClr val="1E276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2E7CCF-B071-44DD-B2F1-59061953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545" y="20097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909D56-DA8C-4818-B0B9-D4CAB036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25241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98EE16-4A5D-454B-81A6-CC833151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0" y="1809750"/>
            <a:ext cx="1200150" cy="14287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1430">
            <a:solidFill>
              <a:srgbClr val="B9CB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D61191-0A73-4292-BC95-D13D58B5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620" y="18954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Publish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702256-9A50-46A4-B640-EA53B888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5720" y="2286000"/>
            <a:ext cx="971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Canonical JSON,</a:t>
            </a:r>
          </a:p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status API,</a:t>
            </a:r>
          </a:p>
          <a:p xmlns:a="http://schemas.openxmlformats.org/drawingml/2006/main">
            <a:pPr algn="ctr">
              <a:defRPr sz="720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20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audit record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816BA4-F38F-4E14-9903-2E01E193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45" y="1971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0">
            <a:solidFill>
              <a:srgbClr val="1E276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DDBF96-26A8-4B6D-BD88-78EA8413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45" y="20097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CE63E3-D276-474D-8DD7-42119F3E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57600"/>
            <a:ext cx="61341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0">
            <a:solidFill>
              <a:srgbClr val="1E276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7FBC7A-7F73-4D72-B781-091C5F81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814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 choice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AFE3C6-556C-4D62-9500-7E2E57A1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814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pPr>
            <a:r>
              <a:rPr sz="93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Layout variance is handled inside each custom neural model. Spring Boot owns routing, validation, audit, and business rules.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617079-2E73-469A-B271-A791BCD5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62500"/>
            <a:ext cx="813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91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State model: RECEIVED -&gt; CLASSIFIED -&gt; EXTRACTED -&gt; VALIDATED -&gt; COMPLETED or REVIEW.</a:t>
            </a:r>
          </a:p>
        </p:txBody>
      </p:sp>
    </p:spTree>
    <p:extLst>
      <p:ext uri="{BB962C8B-B14F-4D97-AF65-F5344CB8AC3E}">
        <p14:creationId xmlns:p14="http://schemas.microsoft.com/office/powerpoint/2010/main" val="1046072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4E1181-A6A9-4F72-94B7-A7779D4A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76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5AC8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3D5AC8"/>
                </a:solidFill>
                <a:latin typeface="Calibri"/>
                <a:ea typeface="Calibri"/>
                <a:cs typeface="Calibri"/>
              </a:rPr>
              <a:t>TECH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27E57-17FE-4D15-B7CA-975851B6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672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325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POC Components and Executive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6BEBB-D832-48FB-940A-7A93788B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525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The stack separates AI extraction from enterprise controls such as audit, review, security, and model governance.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7049A-00FE-46BC-AB4C-75E46010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58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0">
            <a:solidFill>
              <a:srgbClr val="1E27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F8FB1-AFC7-446C-BEC3-6975DA04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" y="13620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92BB8-A4B5-49AB-9C35-B2A458F7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858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0">
            <a:solidFill>
              <a:srgbClr val="1E276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1A350-F20A-49C9-BAC1-B8D62C97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620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B89A1-3A39-4868-AE9E-93E023B3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858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0">
            <a:solidFill>
              <a:srgbClr val="1E27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236E0-E479-48C9-9AD3-7A85CCCF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620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7EFA9-5198-46F3-AEFC-523AF308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858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0">
            <a:solidFill>
              <a:srgbClr val="1E27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81EF8-676C-4284-B74D-45BB43AA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620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Executive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4E0DA-D278-4BAB-AAF3-2B61E268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240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E09C1-1ECB-4FB7-B736-E5CD6E8A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" y="1619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88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Channel +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97CAC-4875-42A7-8A4A-AA79610A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240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C74DC8-EFA0-4DE3-818F-B5654921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19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Spring Boot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5D176-74FD-4917-B955-FD9F180B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D2CC6-B571-499E-BCB2-01C11E5D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19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Upload, status,</a:t>
            </a:r>
          </a:p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job lifecycle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5686C-20FC-4AD6-A957-C6E91BDF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F7983-9755-4269-BA9D-66002060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Idempotency,</a:t>
            </a:r>
          </a:p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access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9BE78A-1F65-4268-A9E2-1A2DEF3C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669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E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1A846-E90B-4132-BD02-D07CC1FC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" y="23622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88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Async Processing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AEDDC-CFB8-4BEF-9DBF-1B9CD2EA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669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E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4CBD62-37AF-4B83-B542-4B6F66EB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622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Azure Service Bus</a:t>
            </a:r>
          </a:p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+ Spring worker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3E7D7-6B9D-4AB1-B6D2-4204FBE5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E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C4367A-9126-4B5A-8D84-710F2B2E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Queue, retry,</a:t>
            </a:r>
          </a:p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state machine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C3C8BD-BA91-4F0B-B9B4-C25B5BC6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E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966B3D-19C0-449A-B721-7F1A38CB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DLQ, runbooks,</a:t>
            </a:r>
          </a:p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observability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9BF003-3821-44DC-9CAC-94F285AD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99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FA5F95-BA4B-4034-A140-0FFBC677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" y="3105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88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AI Extraction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F135DD-E2F1-4D0F-919A-2EFB07B6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99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7739D8-DF78-4821-8375-626A9417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05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Azure Document</a:t>
            </a:r>
          </a:p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Intelligence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0E32F3-E8FF-4DDD-8079-1ED84572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99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6DE2C1-357E-475D-BE43-BCF16A88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Classifier + custom</a:t>
            </a:r>
          </a:p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neural extractors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AFBE7B-6F03-4BF6-BF41-5533F129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A72A16-4847-48D0-927A-148EE0FA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Model versioning,</a:t>
            </a:r>
          </a:p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field metrics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C825CB-F9D4-48C5-BBAC-7840DB17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528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E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4903C8-F1BA-4248-AFDE-90BD98FE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" y="3848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88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Persistence +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CB7D18-B782-4E11-884B-450EEE78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528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E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D9B940-9CF0-4A34-8119-488FF0F6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48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Blob Storage,</a:t>
            </a:r>
          </a:p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Azure SQL/Postgres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E12897-FE96-4A74-9966-DAEA3111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E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B7D762-7158-4305-8EA2-273CC5CF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48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Raw docs, JSON,</a:t>
            </a:r>
          </a:p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audit, exceptions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9F995C-3905-4F25-9CF9-FF8DFB2A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E"/>
          </a:solidFill>
          <a:ln xmlns:a="http://schemas.openxmlformats.org/drawingml/2006/main" w="7620">
            <a:solidFill>
              <a:srgbClr val="B9CB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FB9955-A787-4712-8F5E-6CCAD505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48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Retention, audit,</a:t>
            </a:r>
          </a:p>
          <a:p xmlns:a="http://schemas.openxmlformats.org/drawingml/2006/main">
            <a:pPr algn="l">
              <a:defRPr sz="795" b="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95" b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review thresholds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414257-BAB5-4E05-A366-CFA886B1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0"/>
            <a:ext cx="81343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0">
            <a:solidFill>
              <a:srgbClr val="1E276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10CF01-CDBB-41B9-B6A4-2F25582D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767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Success targets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248116-A6B0-4EBE-A313-8B741AE0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7677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95%+ classification accuracy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BA8215-B5A9-4718-A7A6-B77D5B4B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7677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85%+ key-field extraction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3E9A8A-0A83-4556-842A-2B075EC2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7677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60%+ estimated STP rate</a:t>
            </a:r>
          </a:p>
        </p:txBody>
      </p:sp>
    </p:spTree>
    <p:extLst>
      <p:ext uri="{BB962C8B-B14F-4D97-AF65-F5344CB8AC3E}">
        <p14:creationId xmlns:p14="http://schemas.microsoft.com/office/powerpoint/2010/main" val="270259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2026-06-23T19:44:59.6520000Z</dcterms:created>
  <dcterms:modified xsi:type="dcterms:W3CDTF">2026-06-23T19:44:59.6520000Z</dcterms:modified>
</coreProperties>
</file>